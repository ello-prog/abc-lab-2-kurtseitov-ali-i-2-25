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0B3D5C"/>
                </a:solidFill>
                <a:latin typeface="Arial"/>
              </a:rPr>
              <a:t>МИНИСТЕРСТВО НАУКИ И ВЫСШЕГО ОБРАЗОВАНИЯ РОССИЙСКОЙ ФЕДЕРАЦИИ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0B3D5C"/>
                </a:solidFill>
                <a:latin typeface="Arial"/>
              </a:rPr>
              <a:t>Федеральное государственное автономное образовательное учреждение высшего образования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13816"/>
            <a:ext cx="11064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0B3D5C"/>
                </a:solidFill>
                <a:latin typeface="Arial"/>
              </a:rPr>
              <a:t>«КРЫМСКИЙ ФЕДЕРАЛЬНЫЙ УНИВЕРСИТЕТ имени В.И. ВЕРНАДСКОГО»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9848"/>
            <a:ext cx="11064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0B3D5C"/>
                </a:solidFill>
                <a:latin typeface="Arial"/>
              </a:rPr>
              <a:t>Медицинский колледж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064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0B3D5C"/>
                </a:solidFill>
                <a:latin typeface="Arial"/>
              </a:rPr>
              <a:t>Ордена Трудового Красного Знамени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81912"/>
            <a:ext cx="11064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0B3D5C"/>
                </a:solidFill>
                <a:latin typeface="Arial"/>
              </a:rPr>
              <a:t>Медицинского института им. С.И. Георгиевского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75103"/>
            <a:ext cx="3931920" cy="36576"/>
          </a:xfrm>
          <a:prstGeom prst="rect">
            <a:avLst/>
          </a:prstGeom>
          <a:solidFill>
            <a:srgbClr val="B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D8A7A"/>
                </a:solidFill>
                <a:latin typeface="Arial"/>
              </a:rPr>
              <a:t>ПРЕЗЕНТАЦИЯ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B3D5C"/>
                </a:solidFill>
                <a:latin typeface="Arial"/>
              </a:rPr>
              <a:t>Современные дезинфицирующие средства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4A5C60"/>
                </a:solidFill>
                <a:latin typeface="Arial"/>
              </a:rPr>
              <a:t>по дисциплине: Инфекционная безопасность / Сестринское дело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57200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A6B6B"/>
                </a:solidFill>
                <a:latin typeface="Arial"/>
              </a:rPr>
              <a:t>Выполнила работу: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89204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A2A2E"/>
                </a:solidFill>
                <a:latin typeface="Arial"/>
              </a:rPr>
              <a:t>студентка 261/1 группы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21208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Аметова Эмине Суюновна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4A5C60"/>
                </a:solidFill>
                <a:latin typeface="Arial"/>
              </a:rPr>
              <a:t>Симферополь,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План презентации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2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188720"/>
            <a:ext cx="109728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188720"/>
            <a:ext cx="1005840" cy="8229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89888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298448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5C"/>
                </a:solidFill>
                <a:latin typeface="Arial"/>
              </a:rPr>
              <a:t>Как действует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627632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A5C60"/>
                </a:solidFill>
                <a:latin typeface="Arial"/>
              </a:rPr>
              <a:t>Механизм действия дезинфицирующих средств на микроорганизмы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148840"/>
            <a:ext cx="109728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148840"/>
            <a:ext cx="1005840" cy="8229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50008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258568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5C"/>
                </a:solidFill>
                <a:latin typeface="Arial"/>
              </a:rPr>
              <a:t>Какие есть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587752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A5C60"/>
                </a:solidFill>
                <a:latin typeface="Arial"/>
              </a:rPr>
              <a:t>Основные виды современных дезсредств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9728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108960"/>
            <a:ext cx="1005840" cy="8229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0128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218688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5C"/>
                </a:solidFill>
                <a:latin typeface="Arial"/>
              </a:rPr>
              <a:t>Что дают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547872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A5C60"/>
                </a:solidFill>
                <a:latin typeface="Arial"/>
              </a:rPr>
              <a:t>Значение и эффект применения в медицине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69080"/>
            <a:ext cx="109728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69080"/>
            <a:ext cx="1005840" cy="8229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70248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178808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5C"/>
                </a:solidFill>
                <a:latin typeface="Arial"/>
              </a:rPr>
              <a:t>Кто занимается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507992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A5C60"/>
                </a:solidFill>
                <a:latin typeface="Arial"/>
              </a:rPr>
              <a:t>Специалисты и организации, отвечающие за дезинфекцию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029200"/>
            <a:ext cx="109728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029200"/>
            <a:ext cx="1005840" cy="8229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230368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138928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5C"/>
                </a:solidFill>
                <a:latin typeface="Arial"/>
              </a:rPr>
              <a:t>Группы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468112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A5C60"/>
                </a:solidFill>
                <a:latin typeface="Arial"/>
              </a:rPr>
              <a:t>Классификация по химическому составу и назначению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Как действует дезинфицирующее средство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3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A2A2E"/>
                </a:solidFill>
                <a:latin typeface="Arial"/>
              </a:rPr>
              <a:t>Дезинфекция — уничтожение патогенных и условно-патогенных микроорганизмов на объектах внешней среды.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53212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109728" cy="205740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28800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Денатурация белков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94560"/>
            <a:ext cx="5166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Разрушение структуры белков клетки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Нарушение жизненно важных ферментов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Характерно для спиртов, альдегидов, фенолов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691640"/>
            <a:ext cx="553212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691640"/>
            <a:ext cx="109728" cy="205740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1" y="1828800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Повреждение мембраны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1" y="2194560"/>
            <a:ext cx="5166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Нарушение клеточной стенки / оболочки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Утечка цитоплазмы, гибель клетки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Характерно для ЧАС, хлорсодержащих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31920"/>
            <a:ext cx="553212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31920"/>
            <a:ext cx="109728" cy="205740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069080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Окисление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434840"/>
            <a:ext cx="5166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Окисление жизненно важных структур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Повреждение ДНК и ферментов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Характерно для перекиси, хлора, озона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3931920"/>
            <a:ext cx="553212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931920"/>
            <a:ext cx="109728" cy="205740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1" y="4069080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Коагуляция / фиксация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1" y="4434840"/>
            <a:ext cx="5166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Свёртывание белков протоплазмы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Блокировка обмена веществ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• Характерно для спиртов, кислот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Какие есть современные дезсредства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4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3444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743200" cy="50292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44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Хлорсодержащие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Гипохлорит натрия, хлорамин Б, жавель, хлоргексидин-хлор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23444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234440"/>
            <a:ext cx="2743200" cy="50292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344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Кислородсодержащие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Перекись водорода, пергидроль, ПВК, озон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3444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2743200" cy="50292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344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Спирты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Этиловый 70%, изопропиловый спирт, спиртовые антисептики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23444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34440"/>
            <a:ext cx="2743200" cy="50292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344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Альдегиды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9202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Глутаровый альдегид, ортофталевый альдегид, формальдегид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70332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703320"/>
            <a:ext cx="2743200" cy="5029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1304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ЧАС (катионные)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38912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Бензалкония хлорид, цетилпиридиния хлорид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370332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3703320"/>
            <a:ext cx="2743200" cy="5029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381304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Гуанидины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438912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Хлоргексидин биглюконат, полигексанид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70332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703320"/>
            <a:ext cx="2743200" cy="5029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81304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Фенолы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38912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Триклозан, ортофенилфенол (ограниченно)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703320"/>
            <a:ext cx="27432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0" y="3703320"/>
            <a:ext cx="2743200" cy="5029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381304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Комбинированные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438912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1A2A2E"/>
                </a:solidFill>
                <a:latin typeface="Arial"/>
              </a:rPr>
              <a:t>Современные многокомпонентные составы (ЧАС + спирт и др.)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Что дают дезинфицирующие средства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5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36576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137160" cy="219456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Инфекционная безопасность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108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A5C60"/>
                </a:solidFill>
                <a:latin typeface="Arial"/>
              </a:rPr>
              <a:t>Снижают риск внутрибольничных инфекций (ВБИ) для пациентов и персонала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6576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137160" cy="219456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5544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Прерывание путей передачи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286000"/>
            <a:ext cx="3108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A5C60"/>
                </a:solidFill>
                <a:latin typeface="Arial"/>
              </a:rPr>
              <a:t>Разрывают цепь заражения: руки, поверхности, инструменты, воздух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6576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137160" cy="219456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15544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Стерильность процедур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286000"/>
            <a:ext cx="3108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A5C60"/>
                </a:solidFill>
                <a:latin typeface="Arial"/>
              </a:rPr>
              <a:t>Готовят изделия медицинского назначения к стерилизации и использованию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03320"/>
            <a:ext cx="36576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703320"/>
            <a:ext cx="137160" cy="219456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2336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Эпидблагополучие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54880"/>
            <a:ext cx="3108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A5C60"/>
                </a:solidFill>
                <a:latin typeface="Arial"/>
              </a:rPr>
              <a:t>Предотвращают вспышки инфекционных заболеваний в ЛПУ и обществе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703320"/>
            <a:ext cx="36576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703320"/>
            <a:ext cx="137160" cy="219456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02336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Защита персонала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754880"/>
            <a:ext cx="3108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A5C60"/>
                </a:solidFill>
                <a:latin typeface="Arial"/>
              </a:rPr>
              <a:t>Снижают профессиональный риск заражения медработников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703320"/>
            <a:ext cx="36576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3703320"/>
            <a:ext cx="137160" cy="219456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19" y="402336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5C"/>
                </a:solidFill>
                <a:latin typeface="Arial"/>
              </a:rPr>
              <a:t>Качество помощи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4754880"/>
            <a:ext cx="3108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A5C60"/>
                </a:solidFill>
                <a:latin typeface="Arial"/>
              </a:rPr>
              <a:t>Обеспечивают стандарты санитарно-противоэпидемического режима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Кто занимается дезинфекцией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6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88720"/>
            <a:ext cx="3703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3703320" cy="6400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3429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В лечебном учреждении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Медицинские сёстры и младший медперсонал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Врач-эпидемиолог / помощник эпидемиолога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Старшая медицинская сестра отделения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Дезинфектор (при наличии ставки)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Главная медицинская сестра — контроль режима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88720"/>
            <a:ext cx="3703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188720"/>
            <a:ext cx="3703320" cy="6400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298448"/>
            <a:ext cx="3429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Государственный контроль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Роспотребнадзор (санитарно-эпидемиологический надзор)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Территориальные органы здравоохранения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Лаборатории контроля качества дезинфекции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Центры гигиены и эпидемиологии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188720"/>
            <a:ext cx="3703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03320" cy="6400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98448"/>
            <a:ext cx="3429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Наука и производство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1168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НИИ дезинфектологии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Производители дезсредств (регистрация в РФ)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Кафедры эпидемиологии и гигиены вузов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Методические центры Минздрава России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Группы дезсредств и к каким относятся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Классификация по химическому составу (основные группы)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1. Галогенсодержащие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0020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Хлор, бром, йод и их соединения — жавель, хлорамин, йодофоры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03120"/>
            <a:ext cx="11155680" cy="502920"/>
          </a:xfrm>
          <a:prstGeom prst="rect">
            <a:avLst/>
          </a:prstGeom>
          <a:solidFill>
            <a:srgbClr val="E6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945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2. Кислородсодержащие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19456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Перекись водорода, перкарбонаты, озон, надуксусная кислота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9748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8892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3. ПАВ / 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78892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Четвертичные аммониевые соединения — поверхности, инвентарь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91840"/>
            <a:ext cx="11155680" cy="502920"/>
          </a:xfrm>
          <a:prstGeom prst="rect">
            <a:avLst/>
          </a:prstGeom>
          <a:solidFill>
            <a:srgbClr val="E6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8328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4. Спирты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38328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Этанол, пропанол — кожные антисептики, мелкий инструментарий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8620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7764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5. Альдегиды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97764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Высокий уровень дезинфекции, эндоскопы, термолабильные изделия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80560"/>
            <a:ext cx="11155680" cy="502920"/>
          </a:xfrm>
          <a:prstGeom prst="rect">
            <a:avLst/>
          </a:prstGeom>
          <a:solidFill>
            <a:srgbClr val="E6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57200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6. Гуанидины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457200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Хлоргексидин и аналоги — кожа, слизистые, поверхности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7492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663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7. Кислоты / щёлочи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5166360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Специальные режимы, отдельные отрасли и ЛПУ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69279"/>
            <a:ext cx="11155680" cy="502920"/>
          </a:xfrm>
          <a:prstGeom prst="rect">
            <a:avLst/>
          </a:prstGeom>
          <a:solidFill>
            <a:srgbClr val="E6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760719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3D5C"/>
                </a:solidFill>
                <a:latin typeface="Arial"/>
              </a:rPr>
              <a:t>8. Комбинированные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760719"/>
            <a:ext cx="7223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2A2E"/>
                </a:solidFill>
                <a:latin typeface="Arial"/>
              </a:rPr>
              <a:t>Сочетание групп для расширения спектра и снижения резистентности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Классификация по назначению и уровню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8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88720"/>
            <a:ext cx="3703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3703320" cy="6400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520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По объекту обработки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Кожные антисептики (руки, операционное поле)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Для поверхностей помещений и мебели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Для изделий медицинского назначения (ИМН)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Для воздуха и аэрозольной дезинфекции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Для белья, посуды, выделений больных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88720"/>
            <a:ext cx="3703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188720"/>
            <a:ext cx="3703320" cy="6400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298448"/>
            <a:ext cx="3520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По уровню дезинфекции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Высокий уровень — почти стерилизация (альдегиды, НУК)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Средний уровень — бактерии, вирусы, грибы, микобактерии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Низкий уровень — вегетативные бактерии, некоторые вирусы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Выбор режима зависит от риска и вида ИМН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Режимы указаны в инструкции к средству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188720"/>
            <a:ext cx="3703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03320" cy="6400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298448"/>
            <a:ext cx="3520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По режиму применения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1168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Профилактическая дезинфекция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Текущая дезинфекция (у постели больного)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Заключительная дезинфекция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Очаговая (при инфекционном заболевании)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300" b="0">
                <a:solidFill>
                  <a:srgbClr val="1A2A2E"/>
                </a:solidFill>
                <a:latin typeface="Arial"/>
              </a:rPr>
              <a:t>●  Генеральная уборка по графику ЛПУ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Требования к современным дезсредствам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9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370332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109728" cy="22402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7160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Широкий спектр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73736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Бактерицидное, вирулицидное, фунгицидное, при необходимости туберкулоцидное действие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70332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109728" cy="22402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37160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Безопасность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73736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Малая токсичность в рабочих концентрациях, контроль экспозиции для персонала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70332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109728" cy="22402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37160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Совместимость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73736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Не повреждают материалы ИМН, мебели, поверхностей при правильном применении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03320"/>
            <a:ext cx="370332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703320"/>
            <a:ext cx="109728" cy="22402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384048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Удобство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20624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Готовые растворы / таблетки, понятные режимы, стабильность рабочего раствора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703320"/>
            <a:ext cx="370332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703320"/>
            <a:ext cx="109728" cy="22402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384048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Регистрация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420624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Разрешены к применению в РФ, есть инструкция и свидетельство о госрегистрации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703320"/>
            <a:ext cx="370332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3703320"/>
            <a:ext cx="109728" cy="2240280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1" y="384048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A6B6B"/>
                </a:solidFill>
                <a:latin typeface="Arial"/>
              </a:rPr>
              <a:t>Контроль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420624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>
                <a:solidFill>
                  <a:srgbClr val="4A5C60"/>
                </a:solidFill>
                <a:latin typeface="Arial"/>
              </a:rPr>
              <a:t>Возможность химического и бактериологического контроля качества обработки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Выводы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B0C8D0"/>
                </a:solidFill>
                <a:latin typeface="Arial"/>
              </a:rPr>
              <a:t>Медицинский колледж КФУ им. В.И. Вернадского  ·  Современные дезсредства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10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88720"/>
            <a:ext cx="11064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44752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371600"/>
            <a:ext cx="9875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A2A2E"/>
                </a:solidFill>
                <a:latin typeface="Arial"/>
              </a:rPr>
              <a:t>Современные дезсредства действуют через денатурацию белков, окисление и повреждение клеточных мембран микроорганизмов.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48840"/>
            <a:ext cx="11064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04872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31720"/>
            <a:ext cx="9875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A2A2E"/>
                </a:solidFill>
                <a:latin typeface="Arial"/>
              </a:rPr>
              <a:t>Основные группы: хлор- и кислородсодержащие, спирты, альдегиды, ЧАС, гуанидины и комбинированные препараты.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11064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3291840"/>
            <a:ext cx="457200" cy="457200"/>
          </a:xfrm>
          <a:prstGeom prst="ellipse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64992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291840"/>
            <a:ext cx="9875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A2A2E"/>
                </a:solidFill>
                <a:latin typeface="Arial"/>
              </a:rPr>
              <a:t>Они обеспечивают инфекционную безопасность пациентов и персонала, снижают риск ВБИ и поддерживают санэпидрежим.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80"/>
            <a:ext cx="11064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251960"/>
            <a:ext cx="9875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A2A2E"/>
                </a:solidFill>
                <a:latin typeface="Arial"/>
              </a:rPr>
              <a:t>Организацию и контроль осуществляют медперсонал ЛПУ, эпидемиологи и органы Роспотребнадзора.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64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5212080"/>
            <a:ext cx="457200" cy="457200"/>
          </a:xfrm>
          <a:prstGeom prst="ellipse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85232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12080"/>
            <a:ext cx="9875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A2A2E"/>
                </a:solidFill>
                <a:latin typeface="Arial"/>
              </a:rPr>
              <a:t>Выбор средства зависит от объекта, уровня дезинфекции и режима; обязательно соблюдение инструкции производителя.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12191695" cy="2286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>
                <a:solidFill>
                  <a:srgbClr val="A8D5D0"/>
                </a:solidFill>
                <a:latin typeface="Arial"/>
              </a:rPr>
              <a:t>Готова ответить на ваши вопросы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B3D5C"/>
                </a:solidFill>
                <a:latin typeface="Arial"/>
              </a:rPr>
              <a:t>Аметова Эмине Суюновна  ·  группа 261/1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4A5C60"/>
                </a:solidFill>
                <a:latin typeface="Arial"/>
              </a:rPr>
              <a:t>Медицинский колледж КФУ им. В.И. Вернадского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