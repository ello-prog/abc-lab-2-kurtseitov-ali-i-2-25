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1920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МИНИСТЕРСТВО НАУКИ И ВЫСШЕГО ОБРАЗОВАНИЯ РОССИЙСКОЙ ФЕДЕРАЦИИ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B3D5C"/>
                </a:solidFill>
                <a:latin typeface="Arial"/>
                <a:cs typeface="Arial"/>
                <a:ea typeface="Arial"/>
              </a:rPr>
              <a:t>Федеральное государственное автономное образовательное учреждение высшего образования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«КРЫМСКИЙ ФЕДЕРАЛЬНЫЙ УНИВЕРСИТЕТ имени В.И. ВЕРНАДСКОГО»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Медицинский колледж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B3D5C"/>
                </a:solidFill>
                <a:latin typeface="Arial"/>
                <a:cs typeface="Arial"/>
                <a:ea typeface="Arial"/>
              </a:rPr>
              <a:t>Ордена Трудового Красного Знамени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B3D5C"/>
                </a:solidFill>
                <a:latin typeface="Arial"/>
                <a:cs typeface="Arial"/>
                <a:ea typeface="Arial"/>
              </a:rPr>
              <a:t>Медицинского института им. С.И. Георгиевского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286000"/>
            <a:ext cx="3383280" cy="36576"/>
          </a:xfrm>
          <a:prstGeom prst="rect">
            <a:avLst/>
          </a:prstGeom>
          <a:solidFill>
            <a:srgbClr val="B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D8A7A"/>
                </a:solidFill>
                <a:latin typeface="Arial"/>
                <a:cs typeface="Arial"/>
                <a:ea typeface="Arial"/>
              </a:rPr>
              <a:t>ПРЕЗЕНТАЦИЯ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Современные дезинфицирующие средства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по дисциплине: Инфекционная безопасность / Сестринское дело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4389120"/>
            <a:ext cx="4846320" cy="1371600"/>
          </a:xfrm>
          <a:prstGeom prst="rect">
            <a:avLst/>
          </a:prstGeom>
          <a:solidFill>
            <a:srgbClr val="F2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6B6B"/>
                </a:solidFill>
                <a:latin typeface="Arial"/>
                <a:cs typeface="Arial"/>
                <a:ea typeface="Arial"/>
              </a:rPr>
              <a:t>Выполнила работу: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студентка 261/1 группы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Аметова Эмине Суюновна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Симферополь,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План презентации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058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097280"/>
            <a:ext cx="9875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Как действует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Механизм действия дезинфицирующих средств на микроорганизмы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058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03120"/>
            <a:ext cx="9875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Какие есть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Основные виды современных дезсредств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108960"/>
            <a:ext cx="9875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Что дают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Значение и эффект применения в медицине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10058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9875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Кто занимается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Специалисты и организации, отвечающие за дезинфекцию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1005840" cy="82296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5120640"/>
            <a:ext cx="98755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0020" bIns="1143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Группы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Классификация по химическому составу и назначению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Как действует дезинфицирующее средство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Дезинфекция — уничтожение патогенных и условно-патогенных микроорганизмов на объектах внешней среды.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623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28016" cy="2057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737360"/>
            <a:ext cx="5495544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Денатурация белков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Разрушение структуры белков клетки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Нарушение жизненно важных ферментов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Спирты, альдегиды, фенолы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623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128016" cy="2057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37376" y="1737360"/>
            <a:ext cx="5495544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Повреждение мембраны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Нарушение клеточной стенки / оболочки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Утечка цитоплазмы, гибель клетки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ЧАС, хлорсодержащие средства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5623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128016" cy="2057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" y="3977639"/>
            <a:ext cx="5495544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Окисление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Окисление жизненно важных структур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Повреждение ДНК и ферментов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Перекись водорода, хлор, озон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977639"/>
            <a:ext cx="562356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977639"/>
            <a:ext cx="128016" cy="20574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7376" y="3977639"/>
            <a:ext cx="5495544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Коагуляция / фиксация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Свёртывание белков протоплазмы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Блокировка обмена веществ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Спирты, кислоты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Какие есть современные дезсредства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834640" cy="4572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Хлорсодержащие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Гипохлорит натрия, хлорамин Б, жавель и др.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43000"/>
            <a:ext cx="2834640" cy="4572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Кислородсодержащие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0020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Перекись водорода, пергидроль, озон, ПВК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2834640" cy="4572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Спирты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Этиловый 70%, изопропиловый спирт, антисептики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143000"/>
            <a:ext cx="2834640" cy="4572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Альдегиды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60020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Глутаровый, ортофталевый, формальдегид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03320"/>
            <a:ext cx="283464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ЧАС (катионные)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16052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Бензалкония хлорид, цетилпиридиния хлорид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703320"/>
            <a:ext cx="283464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Гуанидины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16052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Хлоргексидин биглюконат, полигексанид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283464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Фенолы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Триклозан, ортофенилфенол (ограниченно)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703320"/>
            <a:ext cx="2834640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Комбинированные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4160520"/>
            <a:ext cx="283464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Многокомпонентные составы (ЧАС + спирт и др.)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Что дают дезинфицирующие средства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5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Инфекционная безопасность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Снижают риск внутрибольничных инфекций (ВБИ) для пациентов и персонала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Прерывание путей передачи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Разрывают цепь заражения: руки, поверхности, инструменты, воздух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5761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Стерильность процедур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Готовят изделия медицинского назначения к стерилизации и использованию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Эпидблагополучие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Предотвращают вспышки инфекционных заболеваний в ЛПУ и обществе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2569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Защита персонала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Снижают профессиональный риск заражения медработников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761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Качество помощи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Обеспечивают стандарты санитарно-противоэпидемического режима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Кто занимается дезинфекцией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4572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В лечебном учреждении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Медицинские сёстры и младший медперсонал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Врач-эпидемиолог / помощник эпидемиолога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Старшая медицинская сестра отделения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Дезинфектор (при наличии ставки)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Главная медсестра — контроль режима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097280"/>
            <a:ext cx="3749039" cy="4572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Государственный контроль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Роспотребнадзор (санэпиднадзор)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Территориальные органы здравоохранения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Лаборатории контроля качества дезинфекции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Центры гигиены и эпидемиологии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097280"/>
            <a:ext cx="3749039" cy="4572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Наука и производство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НИИ дезинфектологии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Производители дезсредств (регистрация в РФ)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Кафедры эпидемиологии и гигиены вузов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Методические центры Минздрава России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Группы дезсредств и к каким относятся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7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6B6B"/>
                </a:solidFill>
                <a:latin typeface="Arial"/>
                <a:cs typeface="Arial"/>
                <a:ea typeface="Arial"/>
              </a:rPr>
              <a:t>Классификация по химическому составу (основные группы)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1. Галогенсодержащие   —   Хлор, бром, йод и их соединения — жавель, хлорамин, йодофоры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530352"/>
          </a:xfrm>
          <a:prstGeom prst="rect">
            <a:avLst/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2. Кислородсодержащие   —   Перекись водорода, перкарбонаты, озон, надуксусная кислота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3. ПАВ / ЧАС   —   Четвертичные аммониевые соединения — поверхности, инвентарь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11247120" cy="530352"/>
          </a:xfrm>
          <a:prstGeom prst="rect">
            <a:avLst/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4. Спирты   —   Этанол, пропанол — кожные антисептики, мелкий инструментарий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5. Альдегиды   —   Высокий уровень дезинфекции, эндоскопы, термолабильные изделия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11247120" cy="530352"/>
          </a:xfrm>
          <a:prstGeom prst="rect">
            <a:avLst/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6. Гуанидины   —   Хлоргексидин и аналоги — кожа, слизистые, поверхности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112471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7. Кислоты / щёлочи   —   Специальные режимы, отдельные отрасли и ЛПУ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32120"/>
            <a:ext cx="11247120" cy="530352"/>
          </a:xfrm>
          <a:prstGeom prst="rect">
            <a:avLst/>
          </a:prstGeom>
          <a:solidFill>
            <a:srgbClr val="E8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9144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8. Комбинированные   —   Сочетание групп для расширения спектра и снижения резистентности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Классификация по назначению и уровню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4572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По объекту обработки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Кожные антисептики (руки, операционное поле)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Для поверхностей помещений и мебели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Для изделий медицинского назначения (ИМН)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Для воздуха и аэрозольной дезинфекции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Для белья, посуды, выделений больных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097280"/>
            <a:ext cx="3749039" cy="4572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По уровню дезинфекции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Высокий уровень — почти стерилизация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Средний — бактерии, вирусы, грибы, микобактерии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Низкий — вегетативные бактерии, некоторые вирусы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Выбор зависит от риска и вида ИМН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Режимы указаны в инструкции к средству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097280"/>
            <a:ext cx="3749039" cy="457200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1206" bIns="36576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По режиму применения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155448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64008"/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Профилактическая дезинфекция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Текущая дезинфекция (у постели больного)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Заключительная дезинфекция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Очаговая (при инфекционном заболевании)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•  Генеральная уборка по графику ЛПУ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Требования к современным дезсредствам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9 /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Широкий спектр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Бактерицидное, вирулицидное, фунгицидное, при необходимости туберкулоцидное действие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Безопасность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Малая токсичность в рабочих концентрациях, контроль экспозиции для персонала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57616" y="11430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Совместимость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Не повреждают материалы ИМН, мебели, поверхностей при правильном применении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Удобство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Готовые растворы / таблетки, понятные режимы, стабильность рабочего раствора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2569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Регистрация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Разрешены к применению в РФ, есть инструкция и свидетельство о госрегистрации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657600"/>
            <a:ext cx="3749039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3657600"/>
            <a:ext cx="128016" cy="228600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7616" y="3657600"/>
            <a:ext cx="3621023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2412" bIns="73152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Контроль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Возможность химического и бактериологического контроля качества обработки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56031" bIns="18288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Выводы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64008"/>
          </a:xfrm>
          <a:prstGeom prst="rect">
            <a:avLst/>
          </a:prstGeom>
          <a:solidFill>
            <a:srgbClr val="0D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1600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5D8D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  ·  Современные дезсредства          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2003" bIns="228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09728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0058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Современные дезсредства действуют через денатурацию белков, окисление и повреждение клеточных мембран.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2003" bIns="228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210312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0058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Основные группы: хлор- и кислородсодержащие, спирты, альдегиды, ЧАС, гуанидины и комбинированные препараты.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2003" bIns="228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10896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0058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Обеспечивают инфекционную безопасность пациентов и персонала, снижают риск ВБИ.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2003" bIns="228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11480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0058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Организацию и контроль осуществляют медперсонал ЛПУ, эпидемиологи и органы Роспотребнадзора.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2003" bIns="228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512064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0817" bIns="100584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A2A2E"/>
                </a:solidFill>
                <a:latin typeface="Arial"/>
                <a:cs typeface="Arial"/>
                <a:ea typeface="Arial"/>
              </a:rPr>
              <a:t>Выбор средства зависит от объекта, уровня дезинфекции и режима; обязательно соблюдение инструкции.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12191695" cy="21945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6809" bIns="54864"/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Спасибо за внимание!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A8D5D0"/>
                </a:solidFill>
                <a:latin typeface="Arial"/>
                <a:cs typeface="Arial"/>
                <a:ea typeface="Arial"/>
              </a:rPr>
              <a:t>Готова ответить на ваши вопросы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B3D5C"/>
                </a:solidFill>
                <a:latin typeface="Arial"/>
                <a:cs typeface="Arial"/>
                <a:ea typeface="Arial"/>
              </a:rPr>
              <a:t>Аметова Эмине Суюновна  ·  группа 261/1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A4E"/>
                </a:solidFill>
                <a:latin typeface="Arial"/>
                <a:cs typeface="Arial"/>
                <a:ea typeface="Arial"/>
              </a:rPr>
              <a:t>Медицинский колледж КФУ им. В.И. Вернадского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